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560320"/>
            <a:ext cx="12188952" cy="2286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4ECDC4"/>
                </a:solidFill>
              </a:rPr>
              <a:t>Bluestock Mutual Fund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</a:rPr>
              <a:t>Customer Behavior Analytics &amp; Performance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657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CCCCFF"/>
                </a:solidFill>
              </a:rPr>
              <a:t>Analyst: MERLIN J  |  Teyzix Core Internship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2062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AAAAA"/>
                </a:solidFill>
              </a:rPr>
              <a:t>Python  |  SQLite  |  Plotly  |  Streamlit  |  Pandas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846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D700"/>
                </a:solidFill>
              </a:rPr>
              <a:t>40 Schemes  |  32,778 Transactions  |  5,000+ Investors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4ECDC4"/>
                </a:solidFill>
              </a:rPr>
              <a:t>Project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97280"/>
            <a:ext cx="2651760" cy="1463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D700"/>
                </a:solidFill>
              </a:rPr>
              <a:t>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9202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CCCFF"/>
                </a:solidFill>
              </a:rPr>
              <a:t>Fund Schemes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1097280"/>
            <a:ext cx="2651760" cy="1463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91840" y="118872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D700"/>
                </a:solidFill>
              </a:rPr>
              <a:t>32,778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19202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CCCFF"/>
                </a:solidFill>
              </a:rPr>
              <a:t>Transactions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097280"/>
            <a:ext cx="2651760" cy="1463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118872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D700"/>
                </a:solidFill>
              </a:rPr>
              <a:t>5,000+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9202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CCCFF"/>
                </a:solidFill>
              </a:rPr>
              <a:t>Investors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052560" y="1097280"/>
            <a:ext cx="2651760" cy="1463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0" y="118872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D700"/>
                </a:solidFill>
              </a:rPr>
              <a:t>8,050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19202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CCCFF"/>
                </a:solidFill>
              </a:rPr>
              <a:t>Benchmark Rows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28346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  Built complete ETL pipeline loading 10 CSV datasets into SQLite star schema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3236976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  Computed CAGR, Sharpe, Sortino, Alpha, Beta and Max Drawdown for all 40 funds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363931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  Investor cohort analysis, SIP continuity and sector HHI concentration analysis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404164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  Built 4-page Streamlit dashboard with real-time AI-powered fund recommendations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4443984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  Generated automated 7-page PDF report with embedded charts and business insights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4ECDC4"/>
                </a:solidFill>
              </a:rPr>
              <a:t>EDA Highlights</a:t>
            </a:r>
          </a:p>
        </p:txBody>
      </p:sp>
      <p:pic>
        <p:nvPicPr>
          <p:cNvPr id="4" name="Picture 3" descr="03_sip_inflow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5669280" cy="3200400"/>
          </a:xfrm>
          <a:prstGeom prst="rect">
            <a:avLst/>
          </a:prstGeom>
        </p:spPr>
      </p:pic>
      <p:pic>
        <p:nvPicPr>
          <p:cNvPr id="5" name="Picture 4" descr="05_investor_demographic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005840"/>
            <a:ext cx="5669280" cy="3200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43891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D700"/>
                </a:solidFill>
              </a:rPr>
              <a:t>  SIP inflows hit all-time high Dec 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473659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D700"/>
                </a:solidFill>
              </a:rPr>
              <a:t>  Age 26-35 = largest investor segment (35%+)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5084064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D700"/>
                </a:solidFill>
              </a:rPr>
              <a:t>  T30 cities contribute 65%+ of SIP volume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5431536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D700"/>
                </a:solidFill>
              </a:rPr>
              <a:t>  UPI dominates payment mode (40%+)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5779007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D700"/>
                </a:solidFill>
              </a:rPr>
              <a:t>  Folio count doubled from 2022 to 2025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4ECDC4"/>
                </a:solidFill>
              </a:rPr>
              <a:t>Performance Metrics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97280"/>
            <a:ext cx="3657600" cy="20116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D700"/>
                </a:solidFill>
              </a:rPr>
              <a:t>CAGR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73736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1yr / 3yr / 5yr
computed for all 40 funds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6240" y="1097280"/>
            <a:ext cx="3657600" cy="20116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79" y="118872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D700"/>
                </a:solidFill>
              </a:rPr>
              <a:t>Sharpe Ratio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79" y="173736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Risk-adjusted returns
using Rf = 6.5%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38160" y="1097280"/>
            <a:ext cx="3657600" cy="20116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18872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D700"/>
                </a:solidFill>
              </a:rPr>
              <a:t>Sortino Ratio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173736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Downside risk
adjusted measure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474720"/>
            <a:ext cx="3657600" cy="20116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356616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D700"/>
                </a:solidFill>
              </a:rPr>
              <a:t>Alpha / Beta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411480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OLS regression
vs Nifty 100 benchmark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06240" y="3474720"/>
            <a:ext cx="3657600" cy="20116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97679" y="356616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D700"/>
                </a:solidFill>
              </a:rPr>
              <a:t>Max Drawdown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79" y="411480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Worst peak-to-trough
decline per fund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8160" y="3474720"/>
            <a:ext cx="3657600" cy="20116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0" y="356616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D700"/>
                </a:solidFill>
              </a:rPr>
              <a:t>Fund Scorecard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411480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Composite 0-100
ranking system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4ECDC4"/>
                </a:solidFill>
              </a:rPr>
              <a:t>Top 10 Fund Scorecard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05840"/>
            <a:ext cx="9875520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515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ECDC4"/>
                </a:solidFill>
              </a:rPr>
              <a:t>Rank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515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ECDC4"/>
                </a:solidFill>
              </a:rPr>
              <a:t>Fund Name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0" y="10515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ECDC4"/>
                </a:solidFill>
              </a:rPr>
              <a:t>Score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0" y="10515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ECDC4"/>
                </a:solidFill>
              </a:rPr>
              <a:t>3yr CAGR%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10515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ECDC4"/>
                </a:solidFill>
              </a:rPr>
              <a:t>Sharpe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417320"/>
            <a:ext cx="9875520" cy="365760"/>
          </a:xfrm>
          <a:prstGeom prst="rect">
            <a:avLst/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14630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4630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Mirae Asset Large Cap Fund - Regula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14630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85.9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14630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33.99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14630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1.068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1801368"/>
            <a:ext cx="9875520" cy="365760"/>
          </a:xfrm>
          <a:prstGeom prst="rect">
            <a:avLst/>
          </a:prstGeom>
          <a:solidFill>
            <a:srgbClr val="0F0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184708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184708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ICICI Pru Midcap Fund - Regular - 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0" y="184708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82.4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184708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31.77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184708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0.883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2185416"/>
            <a:ext cx="9875520" cy="365760"/>
          </a:xfrm>
          <a:prstGeom prst="rect">
            <a:avLst/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2231136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2231136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Kotak Flexicap Fund - Regular - Gro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35040" y="2231136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81.5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0" y="2231136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29.58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0" y="2231136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0.966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2569464"/>
            <a:ext cx="9875520" cy="365760"/>
          </a:xfrm>
          <a:prstGeom prst="rect">
            <a:avLst/>
          </a:prstGeom>
          <a:solidFill>
            <a:srgbClr val="0F0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" y="261518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261518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HDFC Mid-Cap Opportunities Fund - 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35040" y="261518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80.6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23760" y="261518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32.43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0" y="261518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0.808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2953512"/>
            <a:ext cx="9875520" cy="365760"/>
          </a:xfrm>
          <a:prstGeom prst="rect">
            <a:avLst/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4320" y="299923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299923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ICICI Pru Bluechip Fund - Direct - 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35040" y="299923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78.8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23760" y="299923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32.48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86800" y="299923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0.715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3337560"/>
            <a:ext cx="9875520" cy="365760"/>
          </a:xfrm>
          <a:prstGeom prst="rect">
            <a:avLst/>
          </a:prstGeom>
          <a:solidFill>
            <a:srgbClr val="0F0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74320" y="33832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33832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Axis Midcap Fund - Regular - Growth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35040" y="33832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78.1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223760" y="33832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35.1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86800" y="33832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0.731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4320" y="3721608"/>
            <a:ext cx="9875520" cy="365760"/>
          </a:xfrm>
          <a:prstGeom prst="rect">
            <a:avLst/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74320" y="376732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4400" y="376732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SBI Bluechip Fund - Regular Plan - 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035040" y="376732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73.7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223760" y="376732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30.45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86800" y="376732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0.861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74320" y="4105656"/>
            <a:ext cx="9875520" cy="365760"/>
          </a:xfrm>
          <a:prstGeom prst="rect">
            <a:avLst/>
          </a:prstGeom>
          <a:solidFill>
            <a:srgbClr val="0F0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4320" y="4151376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14400" y="4151376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Mirae Asset Tax Saver Fund - Regula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035040" y="4151376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73.2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223760" y="4151376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29.17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686800" y="4151376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0.919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74320" y="4489704"/>
            <a:ext cx="9875520" cy="365760"/>
          </a:xfrm>
          <a:prstGeom prst="rect">
            <a:avLst/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74320" y="453542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14400" y="453542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SBI Small Cap Fund - Regular Plan -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035040" y="453542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67.2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223760" y="453542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26.66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686800" y="453542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0.712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74320" y="4873752"/>
            <a:ext cx="9875520" cy="365760"/>
          </a:xfrm>
          <a:prstGeom prst="rect">
            <a:avLst/>
          </a:prstGeom>
          <a:solidFill>
            <a:srgbClr val="0F0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74320" y="491947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14400" y="491947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ABSL Frontline Equity Fund - Regula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035040" y="491947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66.9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223760" y="491947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28.96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686800" y="491947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0.717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4ECDC4"/>
                </a:solidFill>
              </a:rPr>
              <a:t>Interactive Streamlit Dashboard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97280"/>
            <a:ext cx="5577840" cy="2286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CCFF"/>
                </a:solidFill>
              </a:rPr>
              <a:t>Page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ECDC4"/>
                </a:solidFill>
              </a:rPr>
              <a:t>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03120"/>
            <a:ext cx="5303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KPI cards, AUM by fund house,
transaction trends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097280"/>
            <a:ext cx="5577840" cy="2286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1887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CCFF"/>
                </a:solidFill>
              </a:rPr>
              <a:t>Page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5544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ECDC4"/>
                </a:solidFill>
              </a:rPr>
              <a:t>NAV &amp; Performance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103120"/>
            <a:ext cx="5303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Multi-fund NAV charts,
risk distribution, fund table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657600"/>
            <a:ext cx="5577840" cy="2286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749039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CCFF"/>
                </a:solidFill>
              </a:rPr>
              <a:t>Page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1148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ECDC4"/>
                </a:solidFill>
              </a:rPr>
              <a:t>Investor Analytics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663440"/>
            <a:ext cx="5303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Demographics, geography,
SIP patterns, city tier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3657600"/>
            <a:ext cx="5577840" cy="2286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3749039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CCFF"/>
                </a:solidFill>
              </a:rPr>
              <a:t>Page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1148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ECDC4"/>
                </a:solidFill>
              </a:rPr>
              <a:t>Fund Recommender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663440"/>
            <a:ext cx="5303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AI-powered recommendations
by risk appetite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D700"/>
                </a:solidFill>
              </a:rPr>
              <a:t>Run: streamlit run dashboard/app.py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4ECDC4"/>
                </a:solidFill>
              </a:rPr>
              <a:t>Advanced Analytics</a:t>
            </a:r>
          </a:p>
        </p:txBody>
      </p:sp>
      <p:pic>
        <p:nvPicPr>
          <p:cNvPr id="4" name="Picture 3" descr="16_var_cv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5669280" cy="2743200"/>
          </a:xfrm>
          <a:prstGeom prst="rect">
            <a:avLst/>
          </a:prstGeom>
        </p:spPr>
      </p:pic>
      <p:pic>
        <p:nvPicPr>
          <p:cNvPr id="5" name="Picture 4" descr="17_rolling_sharp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005840"/>
            <a:ext cx="5669280" cy="2743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393192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D700"/>
                </a:solidFill>
              </a:rPr>
              <a:t>  VaR 95%: Small cap worst at -2.5% | Large cap at -1.5%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429768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D700"/>
                </a:solidFill>
              </a:rPr>
              <a:t>  Rolling Sharpe &gt; 1 during 2023 bull run, dropped in 2024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466344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D700"/>
                </a:solidFill>
              </a:rPr>
              <a:t>  SIP Continuity: 70%+ investors regular (gap &lt; 35 days)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502920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D700"/>
                </a:solidFill>
              </a:rPr>
              <a:t>  HHI: Most funds concentrated in Financial Services sector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539496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D700"/>
                </a:solidFill>
              </a:rPr>
              <a:t>  Fund Recommender built for Low/Moderate/High risk profiles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4ECDC4"/>
                </a:solidFill>
              </a:rPr>
              <a:t>Key Insights &amp;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D700"/>
                </a:solidFill>
              </a:rPr>
              <a:t>Key 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463040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FFCC"/>
                </a:solidFill>
              </a:rPr>
              <a:t>  SBI Mutual Fund dominates AUM with Rs.12.5L Crore market leadership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847088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FFCC"/>
                </a:solidFill>
              </a:rPr>
              <a:t>  2023 bull run delivered exceptional NAV growth across all 40 schemes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231136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FFCC"/>
                </a:solidFill>
              </a:rPr>
              <a:t>  SIP inflows reached all-time high Dec 2025 showing investor confidence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615184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FFCC"/>
                </a:solidFill>
              </a:rPr>
              <a:t>  Direct plan funds consistently outperform regular plans on Sharpe ratio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999232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FFCC"/>
                </a:solidFill>
              </a:rPr>
              <a:t>  70%+ investors maintain regular SIP discipline — gap under 35 days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00584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D700"/>
                </a:solidFill>
              </a:rPr>
              <a:t>Recommendations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46304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CCCC"/>
                </a:solidFill>
              </a:rPr>
              <a:t>  Prioritise direct plan funds for cost-conscious long-term investors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938528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CCCC"/>
                </a:solidFill>
              </a:rPr>
              <a:t>  Launch B30 city SIP campaigns to capture untapped retail market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414016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CCCC"/>
                </a:solidFill>
              </a:rPr>
              <a:t>  Flag at-risk SIP investors for proactive retention outreach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889504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CCCC"/>
                </a:solidFill>
              </a:rPr>
              <a:t>  Diversify beyond Financial Services to reduce concentration risk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286000"/>
            <a:ext cx="12188952" cy="2560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4ECDC4"/>
                </a:solidFill>
              </a:rPr>
              <a:t>Thank You!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</a:rPr>
              <a:t>Bluestock Mutual Fund Analytics Capstone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CCCFF"/>
                </a:solidFill>
              </a:rPr>
              <a:t>MERLIN J  |  Teyzix Core Internship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114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AAAAAA"/>
                </a:solidFill>
              </a:rPr>
              <a:t>Python  |  SQLite  |  Plotly  |  Streamlit  |  ReportLab  |  Pandas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D700"/>
                </a:solidFill>
              </a:rPr>
              <a:t>GitHub: github.com/EVANGELINAMERLIN/Mutual-Fund-Analytics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